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35"/>
    <p:restoredTop sz="94675"/>
  </p:normalViewPr>
  <p:slideViewPr>
    <p:cSldViewPr snapToGrid="0" snapToObjects="1">
      <p:cViewPr varScale="1">
        <p:scale>
          <a:sx n="148" d="100"/>
          <a:sy n="148" d="100"/>
        </p:scale>
        <p:origin x="1968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94BE7D-1DFF-524D-804B-495704964DCC}" type="datetimeFigureOut">
              <a:rPr lang="ru-US" smtClean="0"/>
              <a:t>2/22/26</a:t>
            </a:fld>
            <a:endParaRPr lang="ru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FD90F6-5323-F84E-A3B7-321721FE2B18}" type="slidenum">
              <a:rPr lang="ru-US" smtClean="0"/>
              <a:t>‹#›</a:t>
            </a:fld>
            <a:endParaRPr lang="ru-US"/>
          </a:p>
        </p:txBody>
      </p:sp>
    </p:spTree>
    <p:extLst>
      <p:ext uri="{BB962C8B-B14F-4D97-AF65-F5344CB8AC3E}">
        <p14:creationId xmlns:p14="http://schemas.microsoft.com/office/powerpoint/2010/main" val="3036371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Опираемся на выданное ТЗ.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Формулировки соответствуют требованиям к ЛР.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Замените на фактический инструмент.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Внешние сущности: E1 Сотрудник, E2 Служба архива, E3 Клиент, E4 Администратор.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Сфокусируйтесь на соответствии ТЗ и пользе для заказчика.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07626"/>
            <a:ext cx="7772400" cy="1752600"/>
          </a:xfrm>
        </p:spPr>
        <p:txBody>
          <a:bodyPr>
            <a:normAutofit fontScale="90000"/>
          </a:bodyPr>
          <a:lstStyle/>
          <a:p>
            <a:r>
              <a:rPr dirty="0" err="1">
                <a:latin typeface="Helvetica" pitchFamily="2" charset="0"/>
              </a:rPr>
              <a:t>Проект</a:t>
            </a:r>
            <a:r>
              <a:rPr dirty="0">
                <a:latin typeface="Helvetica" pitchFamily="2" charset="0"/>
              </a:rPr>
              <a:t>: АИС «</a:t>
            </a:r>
            <a:r>
              <a:rPr dirty="0" err="1">
                <a:latin typeface="Helvetica" pitchFamily="2" charset="0"/>
              </a:rPr>
              <a:t>Архив</a:t>
            </a:r>
            <a:r>
              <a:rPr dirty="0">
                <a:latin typeface="Helvetica" pitchFamily="2" charset="0"/>
              </a:rPr>
              <a:t> </a:t>
            </a:r>
            <a:r>
              <a:rPr dirty="0" err="1">
                <a:latin typeface="Helvetica" pitchFamily="2" charset="0"/>
              </a:rPr>
              <a:t>Кнопка</a:t>
            </a:r>
            <a:r>
              <a:rPr dirty="0">
                <a:latin typeface="Helvetica" pitchFamily="2" charset="0"/>
              </a:rPr>
              <a:t>»</a:t>
            </a:r>
            <a:r>
              <a:rPr lang="en-US" dirty="0">
                <a:latin typeface="Helvetica" pitchFamily="2" charset="0"/>
              </a:rPr>
              <a:t> –</a:t>
            </a:r>
            <a:r>
              <a:rPr dirty="0">
                <a:latin typeface="Helvetica" pitchFamily="2" charset="0"/>
              </a:rPr>
              <a:t> </a:t>
            </a:r>
            <a:r>
              <a:rPr dirty="0" err="1">
                <a:latin typeface="Helvetica" pitchFamily="2" charset="0"/>
              </a:rPr>
              <a:t>управление</a:t>
            </a:r>
            <a:r>
              <a:rPr dirty="0">
                <a:latin typeface="Helvetica" pitchFamily="2" charset="0"/>
              </a:rPr>
              <a:t> </a:t>
            </a:r>
            <a:r>
              <a:rPr dirty="0" err="1">
                <a:latin typeface="Helvetica" pitchFamily="2" charset="0"/>
              </a:rPr>
              <a:t>заявками</a:t>
            </a:r>
            <a:r>
              <a:rPr dirty="0">
                <a:latin typeface="Helvetica" pitchFamily="2" charset="0"/>
              </a:rPr>
              <a:t> </a:t>
            </a:r>
            <a:br>
              <a:rPr lang="en-US" dirty="0">
                <a:latin typeface="Helvetica" pitchFamily="2" charset="0"/>
              </a:rPr>
            </a:br>
            <a:r>
              <a:rPr dirty="0" err="1">
                <a:latin typeface="Helvetica" pitchFamily="2" charset="0"/>
              </a:rPr>
              <a:t>и</a:t>
            </a:r>
            <a:r>
              <a:rPr dirty="0">
                <a:latin typeface="Helvetica" pitchFamily="2" charset="0"/>
              </a:rPr>
              <a:t> </a:t>
            </a:r>
            <a:r>
              <a:rPr dirty="0" err="1">
                <a:latin typeface="Helvetica" pitchFamily="2" charset="0"/>
              </a:rPr>
              <a:t>подготовкой</a:t>
            </a:r>
            <a:r>
              <a:rPr dirty="0">
                <a:latin typeface="Helvetica" pitchFamily="2" charset="0"/>
              </a:rPr>
              <a:t> </a:t>
            </a:r>
            <a:r>
              <a:rPr dirty="0" err="1">
                <a:latin typeface="Helvetica" pitchFamily="2" charset="0"/>
              </a:rPr>
              <a:t>документов</a:t>
            </a:r>
            <a:endParaRPr dirty="0">
              <a:latin typeface="Helvetica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145975"/>
            <a:ext cx="6400800" cy="1752600"/>
          </a:xfrm>
        </p:spPr>
        <p:txBody>
          <a:bodyPr/>
          <a:lstStyle/>
          <a:p>
            <a:r>
              <a:rPr dirty="0" err="1">
                <a:latin typeface="Helvetica" pitchFamily="2" charset="0"/>
              </a:rPr>
              <a:t>Функциональная</a:t>
            </a:r>
            <a:r>
              <a:rPr dirty="0">
                <a:latin typeface="Helvetica" pitchFamily="2" charset="0"/>
              </a:rPr>
              <a:t> </a:t>
            </a:r>
            <a:r>
              <a:rPr dirty="0" err="1">
                <a:latin typeface="Helvetica" pitchFamily="2" charset="0"/>
              </a:rPr>
              <a:t>модель</a:t>
            </a:r>
            <a:r>
              <a:rPr dirty="0">
                <a:latin typeface="Helvetica" pitchFamily="2" charset="0"/>
              </a:rPr>
              <a:t> (DFD): </a:t>
            </a:r>
            <a:r>
              <a:rPr dirty="0" err="1">
                <a:latin typeface="Helvetica" pitchFamily="2" charset="0"/>
              </a:rPr>
              <a:t>от</a:t>
            </a:r>
            <a:r>
              <a:rPr dirty="0">
                <a:latin typeface="Helvetica" pitchFamily="2" charset="0"/>
              </a:rPr>
              <a:t> </a:t>
            </a:r>
            <a:r>
              <a:rPr dirty="0" err="1">
                <a:latin typeface="Helvetica" pitchFamily="2" charset="0"/>
              </a:rPr>
              <a:t>заявки</a:t>
            </a:r>
            <a:r>
              <a:rPr dirty="0">
                <a:latin typeface="Helvetica" pitchFamily="2" charset="0"/>
              </a:rPr>
              <a:t> </a:t>
            </a:r>
            <a:r>
              <a:rPr dirty="0" err="1">
                <a:latin typeface="Helvetica" pitchFamily="2" charset="0"/>
              </a:rPr>
              <a:t>до</a:t>
            </a:r>
            <a:r>
              <a:rPr dirty="0">
                <a:latin typeface="Helvetica" pitchFamily="2" charset="0"/>
              </a:rPr>
              <a:t> </a:t>
            </a:r>
            <a:r>
              <a:rPr dirty="0" err="1">
                <a:latin typeface="Helvetica" pitchFamily="2" charset="0"/>
              </a:rPr>
              <a:t>выдачи</a:t>
            </a:r>
            <a:r>
              <a:rPr dirty="0">
                <a:latin typeface="Helvetica" pitchFamily="2" charset="0"/>
              </a:rPr>
              <a:t>/</a:t>
            </a:r>
            <a:r>
              <a:rPr dirty="0" err="1">
                <a:latin typeface="Helvetica" pitchFamily="2" charset="0"/>
              </a:rPr>
              <a:t>возврата</a:t>
            </a:r>
            <a:endParaRPr dirty="0">
              <a:latin typeface="Helvetica" pitchFamily="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86475" y="593313"/>
            <a:ext cx="538320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>
                <a:latin typeface="Helvetica" pitchFamily="2" charset="0"/>
              </a:rPr>
              <a:t>Автор</a:t>
            </a:r>
            <a:r>
              <a:rPr dirty="0">
                <a:latin typeface="Helvetica" pitchFamily="2" charset="0"/>
              </a:rPr>
              <a:t>: </a:t>
            </a:r>
            <a:r>
              <a:rPr lang="ru-RU" dirty="0">
                <a:latin typeface="Helvetica" pitchFamily="2" charset="0"/>
              </a:rPr>
              <a:t>Марченко Вадим Александрович</a:t>
            </a:r>
            <a:r>
              <a:rPr lang="en-US" dirty="0">
                <a:latin typeface="Helvetica" pitchFamily="2" charset="0"/>
              </a:rPr>
              <a:t>, </a:t>
            </a:r>
            <a:r>
              <a:rPr lang="ru-RU" dirty="0">
                <a:latin typeface="Helvetica" pitchFamily="2" charset="0"/>
              </a:rPr>
              <a:t>К3141</a:t>
            </a:r>
            <a:endParaRPr dirty="0">
              <a:latin typeface="Helvetica" pitchFamily="2" charset="0"/>
            </a:endParaRPr>
          </a:p>
          <a:p>
            <a:r>
              <a:rPr dirty="0" err="1">
                <a:latin typeface="Helvetica" pitchFamily="2" charset="0"/>
              </a:rPr>
              <a:t>Преподаватель</a:t>
            </a:r>
            <a:r>
              <a:rPr dirty="0">
                <a:latin typeface="Helvetica" pitchFamily="2" charset="0"/>
              </a:rPr>
              <a:t>: </a:t>
            </a:r>
            <a:r>
              <a:rPr lang="ru-RU" dirty="0">
                <a:latin typeface="Helvetica" pitchFamily="2" charset="0"/>
              </a:rPr>
              <a:t>Говорова Марина Михайловна</a:t>
            </a:r>
            <a:endParaRPr dirty="0">
              <a:latin typeface="Helvetica" pitchFamily="2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C4B10A2-D1A8-B265-E393-4A21B9ED5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" y="326455"/>
            <a:ext cx="2552007" cy="1006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Helvetica" pitchFamily="2" charset="0"/>
              </a:rPr>
              <a:t>Предметная область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Helvetica" pitchFamily="2" charset="0"/>
              </a:rPr>
              <a:t>ООО «</a:t>
            </a:r>
            <a:r>
              <a:rPr sz="2800" dirty="0" err="1">
                <a:latin typeface="Helvetica" pitchFamily="2" charset="0"/>
              </a:rPr>
              <a:t>Архив</a:t>
            </a:r>
            <a:r>
              <a:rPr sz="2800" dirty="0">
                <a:latin typeface="Helvetica" pitchFamily="2" charset="0"/>
              </a:rPr>
              <a:t> </a:t>
            </a:r>
            <a:r>
              <a:rPr sz="2800" dirty="0" err="1">
                <a:latin typeface="Helvetica" pitchFamily="2" charset="0"/>
              </a:rPr>
              <a:t>Кнопка</a:t>
            </a:r>
            <a:r>
              <a:rPr sz="2800" dirty="0">
                <a:latin typeface="Helvetica" pitchFamily="2" charset="0"/>
              </a:rPr>
              <a:t>»: </a:t>
            </a:r>
            <a:r>
              <a:rPr sz="2800" dirty="0" err="1">
                <a:latin typeface="Helvetica" pitchFamily="2" charset="0"/>
              </a:rPr>
              <a:t>заявки</a:t>
            </a:r>
            <a:r>
              <a:rPr sz="2800" dirty="0">
                <a:latin typeface="Helvetica" pitchFamily="2" charset="0"/>
              </a:rPr>
              <a:t> </a:t>
            </a:r>
            <a:r>
              <a:rPr sz="2800" dirty="0" err="1">
                <a:latin typeface="Helvetica" pitchFamily="2" charset="0"/>
              </a:rPr>
              <a:t>на</a:t>
            </a:r>
            <a:r>
              <a:rPr sz="2800" dirty="0">
                <a:latin typeface="Helvetica" pitchFamily="2" charset="0"/>
              </a:rPr>
              <a:t> </a:t>
            </a:r>
            <a:r>
              <a:rPr sz="2800" dirty="0" err="1">
                <a:latin typeface="Helvetica" pitchFamily="2" charset="0"/>
              </a:rPr>
              <a:t>оцифровку</a:t>
            </a:r>
            <a:r>
              <a:rPr sz="2800" dirty="0">
                <a:latin typeface="Helvetica" pitchFamily="2" charset="0"/>
              </a:rPr>
              <a:t> </a:t>
            </a:r>
            <a:r>
              <a:rPr sz="2800" dirty="0" err="1">
                <a:latin typeface="Helvetica" pitchFamily="2" charset="0"/>
              </a:rPr>
              <a:t>и</a:t>
            </a:r>
            <a:r>
              <a:rPr sz="2800" dirty="0">
                <a:latin typeface="Helvetica" pitchFamily="2" charset="0"/>
              </a:rPr>
              <a:t> </a:t>
            </a:r>
            <a:r>
              <a:rPr sz="2800" dirty="0" err="1">
                <a:latin typeface="Helvetica" pitchFamily="2" charset="0"/>
              </a:rPr>
              <a:t>хранение</a:t>
            </a:r>
            <a:r>
              <a:rPr sz="2800" dirty="0">
                <a:latin typeface="Helvetica" pitchFamily="2" charset="0"/>
              </a:rPr>
              <a:t> </a:t>
            </a:r>
            <a:r>
              <a:rPr sz="2800" dirty="0" err="1">
                <a:latin typeface="Helvetica" pitchFamily="2" charset="0"/>
              </a:rPr>
              <a:t>документации</a:t>
            </a:r>
            <a:r>
              <a:rPr sz="2800" dirty="0">
                <a:latin typeface="Helvetica" pitchFamily="2" charset="0"/>
              </a:rPr>
              <a:t>.</a:t>
            </a:r>
          </a:p>
          <a:p>
            <a:r>
              <a:rPr sz="2800" dirty="0" err="1">
                <a:latin typeface="Helvetica" pitchFamily="2" charset="0"/>
              </a:rPr>
              <a:t>Работы</a:t>
            </a:r>
            <a:r>
              <a:rPr sz="2800" dirty="0">
                <a:latin typeface="Helvetica" pitchFamily="2" charset="0"/>
              </a:rPr>
              <a:t>: </a:t>
            </a:r>
            <a:r>
              <a:rPr sz="2800" dirty="0" err="1">
                <a:latin typeface="Helvetica" pitchFamily="2" charset="0"/>
              </a:rPr>
              <a:t>сканирование</a:t>
            </a:r>
            <a:r>
              <a:rPr sz="2800" dirty="0">
                <a:latin typeface="Helvetica" pitchFamily="2" charset="0"/>
              </a:rPr>
              <a:t>, </a:t>
            </a:r>
            <a:r>
              <a:rPr sz="2800" dirty="0" err="1">
                <a:latin typeface="Helvetica" pitchFamily="2" charset="0"/>
              </a:rPr>
              <a:t>маркировка</a:t>
            </a:r>
            <a:r>
              <a:rPr sz="2800" dirty="0">
                <a:latin typeface="Helvetica" pitchFamily="2" charset="0"/>
              </a:rPr>
              <a:t>, </a:t>
            </a:r>
            <a:r>
              <a:rPr sz="2800" dirty="0" err="1">
                <a:latin typeface="Helvetica" pitchFamily="2" charset="0"/>
              </a:rPr>
              <a:t>формирование</a:t>
            </a:r>
            <a:r>
              <a:rPr sz="2800" dirty="0">
                <a:latin typeface="Helvetica" pitchFamily="2" charset="0"/>
              </a:rPr>
              <a:t> </a:t>
            </a:r>
            <a:r>
              <a:rPr sz="2800" dirty="0" err="1">
                <a:latin typeface="Helvetica" pitchFamily="2" charset="0"/>
              </a:rPr>
              <a:t>репозиториев</a:t>
            </a:r>
            <a:r>
              <a:rPr sz="2800" dirty="0">
                <a:latin typeface="Helvetica" pitchFamily="2" charset="0"/>
              </a:rPr>
              <a:t>, </a:t>
            </a:r>
            <a:r>
              <a:rPr sz="2800" dirty="0" err="1">
                <a:latin typeface="Helvetica" pitchFamily="2" charset="0"/>
              </a:rPr>
              <a:t>контроль</a:t>
            </a:r>
            <a:r>
              <a:rPr sz="2800" dirty="0">
                <a:latin typeface="Helvetica" pitchFamily="2" charset="0"/>
              </a:rPr>
              <a:t> </a:t>
            </a:r>
            <a:r>
              <a:rPr sz="2800" dirty="0" err="1">
                <a:latin typeface="Helvetica" pitchFamily="2" charset="0"/>
              </a:rPr>
              <a:t>сроков</a:t>
            </a:r>
            <a:r>
              <a:rPr sz="2800" dirty="0">
                <a:latin typeface="Helvetica" pitchFamily="2" charset="0"/>
              </a:rPr>
              <a:t>.</a:t>
            </a:r>
          </a:p>
          <a:p>
            <a:r>
              <a:rPr sz="2800" dirty="0" err="1">
                <a:latin typeface="Helvetica" pitchFamily="2" charset="0"/>
              </a:rPr>
              <a:t>Проблемы</a:t>
            </a:r>
            <a:r>
              <a:rPr sz="2800" dirty="0">
                <a:latin typeface="Helvetica" pitchFamily="2" charset="0"/>
              </a:rPr>
              <a:t>: </a:t>
            </a:r>
            <a:r>
              <a:rPr sz="2800" dirty="0" err="1">
                <a:latin typeface="Helvetica" pitchFamily="2" charset="0"/>
              </a:rPr>
              <a:t>ручные</a:t>
            </a:r>
            <a:r>
              <a:rPr sz="2800" dirty="0">
                <a:latin typeface="Helvetica" pitchFamily="2" charset="0"/>
              </a:rPr>
              <a:t> </a:t>
            </a:r>
            <a:r>
              <a:rPr sz="2800" dirty="0" err="1">
                <a:latin typeface="Helvetica" pitchFamily="2" charset="0"/>
              </a:rPr>
              <a:t>операции</a:t>
            </a:r>
            <a:r>
              <a:rPr sz="2800" dirty="0">
                <a:latin typeface="Helvetica" pitchFamily="2" charset="0"/>
              </a:rPr>
              <a:t>, </a:t>
            </a:r>
            <a:r>
              <a:rPr sz="2800" dirty="0" err="1">
                <a:latin typeface="Helvetica" pitchFamily="2" charset="0"/>
              </a:rPr>
              <a:t>отсутствие</a:t>
            </a:r>
            <a:r>
              <a:rPr sz="2800" dirty="0">
                <a:latin typeface="Helvetica" pitchFamily="2" charset="0"/>
              </a:rPr>
              <a:t> </a:t>
            </a:r>
            <a:r>
              <a:rPr sz="2800" dirty="0" err="1">
                <a:latin typeface="Helvetica" pitchFamily="2" charset="0"/>
              </a:rPr>
              <a:t>мониторинга</a:t>
            </a:r>
            <a:r>
              <a:rPr sz="2800" dirty="0">
                <a:latin typeface="Helvetica" pitchFamily="2" charset="0"/>
              </a:rPr>
              <a:t> </a:t>
            </a:r>
            <a:r>
              <a:rPr sz="2800" dirty="0" err="1">
                <a:latin typeface="Helvetica" pitchFamily="2" charset="0"/>
              </a:rPr>
              <a:t>и</a:t>
            </a:r>
            <a:r>
              <a:rPr sz="2800" dirty="0">
                <a:latin typeface="Helvetica" pitchFamily="2" charset="0"/>
              </a:rPr>
              <a:t> </a:t>
            </a:r>
            <a:r>
              <a:rPr sz="2800" dirty="0" err="1">
                <a:latin typeface="Helvetica" pitchFamily="2" charset="0"/>
              </a:rPr>
              <a:t>единой</a:t>
            </a:r>
            <a:r>
              <a:rPr lang="ru-RU" sz="2800" dirty="0">
                <a:latin typeface="Helvetica" pitchFamily="2" charset="0"/>
              </a:rPr>
              <a:t> системы поиска документов.</a:t>
            </a:r>
            <a:endParaRPr sz="2800" dirty="0"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Helvetica" pitchFamily="2" charset="0"/>
              </a:rPr>
              <a:t>Цель и задачи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 err="1">
                <a:latin typeface="Helvetica" pitchFamily="2" charset="0"/>
              </a:rPr>
              <a:t>Цель</a:t>
            </a:r>
            <a:r>
              <a:rPr sz="2800" dirty="0">
                <a:latin typeface="Helvetica" pitchFamily="2" charset="0"/>
              </a:rPr>
              <a:t>: </a:t>
            </a:r>
            <a:r>
              <a:rPr sz="2800" dirty="0" err="1">
                <a:latin typeface="Helvetica" pitchFamily="2" charset="0"/>
              </a:rPr>
              <a:t>спроектировать</a:t>
            </a:r>
            <a:r>
              <a:rPr sz="2800" dirty="0">
                <a:latin typeface="Helvetica" pitchFamily="2" charset="0"/>
              </a:rPr>
              <a:t> </a:t>
            </a:r>
            <a:r>
              <a:rPr sz="2800" dirty="0" err="1">
                <a:latin typeface="Helvetica" pitchFamily="2" charset="0"/>
              </a:rPr>
              <a:t>функциональную</a:t>
            </a:r>
            <a:r>
              <a:rPr sz="2800" dirty="0">
                <a:latin typeface="Helvetica" pitchFamily="2" charset="0"/>
              </a:rPr>
              <a:t> </a:t>
            </a:r>
            <a:r>
              <a:rPr sz="2800" dirty="0" err="1">
                <a:latin typeface="Helvetica" pitchFamily="2" charset="0"/>
              </a:rPr>
              <a:t>модель</a:t>
            </a:r>
            <a:r>
              <a:rPr sz="2800" dirty="0">
                <a:latin typeface="Helvetica" pitchFamily="2" charset="0"/>
              </a:rPr>
              <a:t> DFD АИС </a:t>
            </a:r>
            <a:r>
              <a:rPr sz="2800" dirty="0" err="1">
                <a:latin typeface="Helvetica" pitchFamily="2" charset="0"/>
              </a:rPr>
              <a:t>от</a:t>
            </a:r>
            <a:r>
              <a:rPr sz="2800" dirty="0">
                <a:latin typeface="Helvetica" pitchFamily="2" charset="0"/>
              </a:rPr>
              <a:t> </a:t>
            </a:r>
            <a:r>
              <a:rPr sz="2800" dirty="0" err="1">
                <a:latin typeface="Helvetica" pitchFamily="2" charset="0"/>
              </a:rPr>
              <a:t>заявки</a:t>
            </a:r>
            <a:r>
              <a:rPr sz="2800" dirty="0">
                <a:latin typeface="Helvetica" pitchFamily="2" charset="0"/>
              </a:rPr>
              <a:t> </a:t>
            </a:r>
            <a:r>
              <a:rPr sz="2800" dirty="0" err="1">
                <a:latin typeface="Helvetica" pitchFamily="2" charset="0"/>
              </a:rPr>
              <a:t>до</a:t>
            </a:r>
            <a:r>
              <a:rPr sz="2800" dirty="0">
                <a:latin typeface="Helvetica" pitchFamily="2" charset="0"/>
              </a:rPr>
              <a:t> </a:t>
            </a:r>
            <a:r>
              <a:rPr sz="2800" dirty="0" err="1">
                <a:latin typeface="Helvetica" pitchFamily="2" charset="0"/>
              </a:rPr>
              <a:t>выдачи</a:t>
            </a:r>
            <a:r>
              <a:rPr sz="2800" dirty="0">
                <a:latin typeface="Helvetica" pitchFamily="2" charset="0"/>
              </a:rPr>
              <a:t>/</a:t>
            </a:r>
            <a:r>
              <a:rPr sz="2800" dirty="0" err="1">
                <a:latin typeface="Helvetica" pitchFamily="2" charset="0"/>
              </a:rPr>
              <a:t>возврата</a:t>
            </a:r>
            <a:r>
              <a:rPr sz="2800" dirty="0">
                <a:latin typeface="Helvetica" pitchFamily="2" charset="0"/>
              </a:rPr>
              <a:t>.</a:t>
            </a:r>
          </a:p>
          <a:p>
            <a:pPr marL="0" indent="0">
              <a:buNone/>
            </a:pPr>
            <a:r>
              <a:rPr sz="2800" dirty="0" err="1">
                <a:latin typeface="Helvetica" pitchFamily="2" charset="0"/>
              </a:rPr>
              <a:t>Задачи</a:t>
            </a:r>
            <a:r>
              <a:rPr sz="2800" dirty="0">
                <a:latin typeface="Helvetica" pitchFamily="2" charset="0"/>
              </a:rPr>
              <a:t>: </a:t>
            </a:r>
            <a:r>
              <a:rPr sz="2800" dirty="0" err="1">
                <a:latin typeface="Helvetica" pitchFamily="2" charset="0"/>
              </a:rPr>
              <a:t>определить</a:t>
            </a:r>
            <a:r>
              <a:rPr sz="2800" dirty="0">
                <a:latin typeface="Helvetica" pitchFamily="2" charset="0"/>
              </a:rPr>
              <a:t> </a:t>
            </a:r>
            <a:r>
              <a:rPr sz="2800" dirty="0" err="1">
                <a:latin typeface="Helvetica" pitchFamily="2" charset="0"/>
              </a:rPr>
              <a:t>сущности</a:t>
            </a:r>
            <a:r>
              <a:rPr sz="2800" dirty="0">
                <a:latin typeface="Helvetica" pitchFamily="2" charset="0"/>
              </a:rPr>
              <a:t> </a:t>
            </a:r>
            <a:r>
              <a:rPr sz="2800" dirty="0" err="1">
                <a:latin typeface="Helvetica" pitchFamily="2" charset="0"/>
              </a:rPr>
              <a:t>и</a:t>
            </a:r>
            <a:r>
              <a:rPr sz="2800" dirty="0">
                <a:latin typeface="Helvetica" pitchFamily="2" charset="0"/>
              </a:rPr>
              <a:t> </a:t>
            </a:r>
            <a:r>
              <a:rPr sz="2800" dirty="0" err="1">
                <a:latin typeface="Helvetica" pitchFamily="2" charset="0"/>
              </a:rPr>
              <a:t>потоки</a:t>
            </a:r>
            <a:r>
              <a:rPr sz="2800" dirty="0">
                <a:latin typeface="Helvetica" pitchFamily="2" charset="0"/>
              </a:rPr>
              <a:t>; </a:t>
            </a:r>
            <a:r>
              <a:rPr sz="2800" dirty="0" err="1">
                <a:latin typeface="Helvetica" pitchFamily="2" charset="0"/>
              </a:rPr>
              <a:t>построить</a:t>
            </a:r>
            <a:r>
              <a:rPr sz="2800" dirty="0">
                <a:latin typeface="Helvetica" pitchFamily="2" charset="0"/>
              </a:rPr>
              <a:t> A-0 </a:t>
            </a:r>
            <a:r>
              <a:rPr sz="2800" dirty="0" err="1">
                <a:latin typeface="Helvetica" pitchFamily="2" charset="0"/>
              </a:rPr>
              <a:t>и</a:t>
            </a:r>
            <a:r>
              <a:rPr sz="2800" dirty="0">
                <a:latin typeface="Helvetica" pitchFamily="2" charset="0"/>
              </a:rPr>
              <a:t> A0; </a:t>
            </a:r>
            <a:r>
              <a:rPr sz="2800" dirty="0" err="1">
                <a:latin typeface="Helvetica" pitchFamily="2" charset="0"/>
              </a:rPr>
              <a:t>выделить</a:t>
            </a:r>
            <a:r>
              <a:rPr sz="2800" dirty="0">
                <a:latin typeface="Helvetica" pitchFamily="2" charset="0"/>
              </a:rPr>
              <a:t> </a:t>
            </a:r>
            <a:r>
              <a:rPr sz="2800" dirty="0" err="1">
                <a:latin typeface="Helvetica" pitchFamily="2" charset="0"/>
              </a:rPr>
              <a:t>хранилища</a:t>
            </a:r>
            <a:r>
              <a:rPr sz="2800" dirty="0">
                <a:latin typeface="Helvetica" pitchFamily="2" charset="0"/>
              </a:rPr>
              <a:t>; </a:t>
            </a:r>
            <a:r>
              <a:rPr sz="2800" dirty="0" err="1">
                <a:latin typeface="Helvetica" pitchFamily="2" charset="0"/>
              </a:rPr>
              <a:t>матрица</a:t>
            </a:r>
            <a:r>
              <a:rPr sz="2800" dirty="0">
                <a:latin typeface="Helvetica" pitchFamily="2" charset="0"/>
              </a:rPr>
              <a:t> </a:t>
            </a:r>
            <a:r>
              <a:rPr sz="2800" dirty="0" err="1">
                <a:latin typeface="Helvetica" pitchFamily="2" charset="0"/>
              </a:rPr>
              <a:t>событий</a:t>
            </a:r>
            <a:r>
              <a:rPr sz="2800" dirty="0">
                <a:latin typeface="Helvetica" pitchFamily="2" charset="0"/>
              </a:rPr>
              <a:t>; </a:t>
            </a:r>
            <a:r>
              <a:rPr sz="2800" dirty="0" err="1">
                <a:latin typeface="Helvetica" pitchFamily="2" charset="0"/>
              </a:rPr>
              <a:t>проверка</a:t>
            </a:r>
            <a:r>
              <a:rPr sz="2800" dirty="0">
                <a:latin typeface="Helvetica" pitchFamily="2" charset="0"/>
              </a:rPr>
              <a:t> </a:t>
            </a:r>
            <a:r>
              <a:rPr sz="2800" dirty="0" err="1">
                <a:latin typeface="Helvetica" pitchFamily="2" charset="0"/>
              </a:rPr>
              <a:t>баланса</a:t>
            </a:r>
            <a:r>
              <a:rPr sz="2800" dirty="0">
                <a:latin typeface="Helvetica" pitchFamily="2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Helvetica" pitchFamily="2" charset="0"/>
              </a:rPr>
              <a:t>Методы и средства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>
                <a:latin typeface="Helvetica" pitchFamily="2" charset="0"/>
              </a:rPr>
              <a:t>Методология</a:t>
            </a:r>
            <a:r>
              <a:rPr dirty="0">
                <a:latin typeface="Helvetica" pitchFamily="2" charset="0"/>
              </a:rPr>
              <a:t>: Data Flow Diagrams (</a:t>
            </a:r>
            <a:r>
              <a:rPr lang="en-US" dirty="0">
                <a:latin typeface="Helvetica" pitchFamily="2" charset="0"/>
              </a:rPr>
              <a:t>DFD</a:t>
            </a:r>
            <a:r>
              <a:rPr dirty="0">
                <a:latin typeface="Helvetica" pitchFamily="2" charset="0"/>
              </a:rPr>
              <a:t>).</a:t>
            </a:r>
          </a:p>
          <a:p>
            <a:r>
              <a:rPr dirty="0">
                <a:latin typeface="Helvetica" pitchFamily="2" charset="0"/>
              </a:rPr>
              <a:t>CASE-</a:t>
            </a:r>
            <a:r>
              <a:rPr dirty="0" err="1">
                <a:latin typeface="Helvetica" pitchFamily="2" charset="0"/>
              </a:rPr>
              <a:t>средство</a:t>
            </a:r>
            <a:r>
              <a:rPr dirty="0">
                <a:latin typeface="Helvetica" pitchFamily="2" charset="0"/>
              </a:rPr>
              <a:t>: </a:t>
            </a:r>
            <a:r>
              <a:rPr dirty="0" err="1">
                <a:latin typeface="Helvetica" pitchFamily="2" charset="0"/>
              </a:rPr>
              <a:t>ERwin</a:t>
            </a:r>
            <a:r>
              <a:rPr dirty="0">
                <a:latin typeface="Helvetica" pitchFamily="2" charset="0"/>
              </a:rPr>
              <a:t>.</a:t>
            </a:r>
            <a:endParaRPr lang="en-US" dirty="0"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>
                <a:latin typeface="Helvetica" pitchFamily="2" charset="0"/>
              </a:rPr>
              <a:t>Анализ процессов и матрица событий</a:t>
            </a:r>
            <a:endParaRPr sz="3600" dirty="0">
              <a:latin typeface="Helvetica" pitchFamily="2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AF6C7CB4-EA3A-513E-F09F-CCA0AE21E5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727827"/>
              </p:ext>
            </p:extLst>
          </p:nvPr>
        </p:nvGraphicFramePr>
        <p:xfrm>
          <a:off x="457200" y="1411377"/>
          <a:ext cx="8229600" cy="48020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370625431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08743587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926600234"/>
                    </a:ext>
                  </a:extLst>
                </a:gridCol>
              </a:tblGrid>
              <a:tr h="23206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 err="1">
                          <a:effectLst/>
                        </a:rPr>
                        <a:t>Процесс</a:t>
                      </a:r>
                      <a:endParaRPr lang="ru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07" marR="49407" marT="39525" marB="3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Входные потоки (откуда)</a:t>
                      </a:r>
                      <a:endParaRPr lang="ru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07" marR="49407" marT="39525" marB="3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Выходные потоки (куда)</a:t>
                      </a:r>
                      <a:endParaRPr lang="ru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07" marR="49407" marT="39525" marB="39525" anchor="ctr"/>
                </a:tc>
                <a:extLst>
                  <a:ext uri="{0D108BD9-81ED-4DB2-BD59-A6C34878D82A}">
                    <a16:rowId xmlns:a16="http://schemas.microsoft.com/office/drawing/2014/main" val="1473467635"/>
                  </a:ext>
                </a:extLst>
              </a:tr>
              <a:tr h="8976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A1. </a:t>
                      </a:r>
                      <a:r>
                        <a:rPr lang="en-US" sz="1200" dirty="0" err="1">
                          <a:effectLst/>
                        </a:rPr>
                        <a:t>Регистрировать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заявку</a:t>
                      </a:r>
                      <a:endParaRPr lang="ru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07" marR="49407" marT="39525" marB="3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200" dirty="0" err="1">
                          <a:effectLst/>
                        </a:rPr>
                        <a:t>Заявка</a:t>
                      </a:r>
                      <a:r>
                        <a:rPr lang="en-US" sz="1200" dirty="0">
                          <a:effectLst/>
                        </a:rPr>
                        <a:t>/</a:t>
                      </a:r>
                      <a:r>
                        <a:rPr lang="en-US" sz="1200" dirty="0" err="1">
                          <a:effectLst/>
                        </a:rPr>
                        <a:t>запрос</a:t>
                      </a:r>
                      <a:r>
                        <a:rPr lang="en-US" sz="1200" dirty="0">
                          <a:effectLst/>
                        </a:rPr>
                        <a:t>/</a:t>
                      </a:r>
                      <a:r>
                        <a:rPr lang="en-US" sz="1200" dirty="0" err="1">
                          <a:effectLst/>
                        </a:rPr>
                        <a:t>оплата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Регистрация</a:t>
                      </a:r>
                      <a:r>
                        <a:rPr lang="en-US" sz="1200" dirty="0">
                          <a:effectLst/>
                        </a:rPr>
                        <a:t>/</a:t>
                      </a:r>
                      <a:r>
                        <a:rPr lang="en-US" sz="1200" dirty="0" err="1">
                          <a:effectLst/>
                        </a:rPr>
                        <a:t>поручения</a:t>
                      </a:r>
                      <a:endParaRPr lang="ru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07" marR="49407" marT="39525" marB="3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 err="1">
                          <a:effectLst/>
                        </a:rPr>
                        <a:t>Карточка</a:t>
                      </a:r>
                      <a:r>
                        <a:rPr lang="en-US" sz="1200" dirty="0">
                          <a:effectLst/>
                        </a:rPr>
                        <a:t>/</a:t>
                      </a:r>
                      <a:r>
                        <a:rPr lang="en-US" sz="1200">
                          <a:effectLst/>
                        </a:rPr>
                        <a:t>статус</a:t>
                      </a:r>
                      <a:br>
                        <a:rPr lang="ru-US" sz="1200" dirty="0">
                          <a:effectLst/>
                        </a:rPr>
                      </a:br>
                      <a:r>
                        <a:rPr lang="en-US" sz="1200" dirty="0" err="1">
                          <a:effectLst/>
                        </a:rPr>
                        <a:t>Требования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на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расчет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br>
                        <a:rPr lang="ru-US" sz="1200" dirty="0">
                          <a:effectLst/>
                        </a:rPr>
                      </a:br>
                      <a:r>
                        <a:rPr lang="en-US" sz="1200" dirty="0" err="1">
                          <a:effectLst/>
                        </a:rPr>
                        <a:t>Запись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в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реестр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заявок</a:t>
                      </a:r>
                      <a:endParaRPr lang="ru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07" marR="49407" marT="39525" marB="39525"/>
                </a:tc>
                <a:extLst>
                  <a:ext uri="{0D108BD9-81ED-4DB2-BD59-A6C34878D82A}">
                    <a16:rowId xmlns:a16="http://schemas.microsoft.com/office/drawing/2014/main" val="3478319804"/>
                  </a:ext>
                </a:extLst>
              </a:tr>
              <a:tr h="6265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A2. Рассчитывать и согласовывать условия</a:t>
                      </a:r>
                      <a:endParaRPr lang="ru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07" marR="49407" marT="39525" marB="3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 err="1">
                          <a:effectLst/>
                        </a:rPr>
                        <a:t>Требования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на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расчет</a:t>
                      </a:r>
                      <a:br>
                        <a:rPr lang="ru-US" sz="1200" dirty="0">
                          <a:effectLst/>
                        </a:rPr>
                      </a:br>
                      <a:r>
                        <a:rPr lang="en-US" sz="1200" dirty="0" err="1">
                          <a:effectLst/>
                        </a:rPr>
                        <a:t>Утверждения</a:t>
                      </a:r>
                      <a:r>
                        <a:rPr lang="en-US" sz="1200" dirty="0">
                          <a:effectLst/>
                        </a:rPr>
                        <a:t>/</a:t>
                      </a:r>
                      <a:r>
                        <a:rPr lang="en-US" sz="1200" dirty="0" err="1">
                          <a:effectLst/>
                        </a:rPr>
                        <a:t>политики</a:t>
                      </a:r>
                      <a:endParaRPr lang="ru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07" marR="49407" marT="39525" marB="3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 err="1">
                          <a:effectLst/>
                        </a:rPr>
                        <a:t>Утвержденные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условия</a:t>
                      </a:r>
                      <a:endParaRPr lang="ru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07" marR="49407" marT="39525" marB="39525"/>
                </a:tc>
                <a:extLst>
                  <a:ext uri="{0D108BD9-81ED-4DB2-BD59-A6C34878D82A}">
                    <a16:rowId xmlns:a16="http://schemas.microsoft.com/office/drawing/2014/main" val="1064097877"/>
                  </a:ext>
                </a:extLst>
              </a:tr>
              <a:tr h="84931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A3. Оформлять договор и принимать оплату</a:t>
                      </a:r>
                      <a:endParaRPr lang="ru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07" marR="49407" marT="39525" marB="3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 err="1">
                          <a:effectLst/>
                        </a:rPr>
                        <a:t>Утвержденные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условия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 err="1">
                          <a:effectLst/>
                        </a:rPr>
                        <a:t>Данные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для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расчета</a:t>
                      </a:r>
                      <a:endParaRPr lang="ru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07" marR="49407" marT="39525" marB="3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 err="1">
                          <a:effectLst/>
                        </a:rPr>
                        <a:t>Расчет</a:t>
                      </a:r>
                      <a:r>
                        <a:rPr lang="en-US" sz="1200" dirty="0">
                          <a:effectLst/>
                        </a:rPr>
                        <a:t>/</a:t>
                      </a:r>
                      <a:r>
                        <a:rPr lang="en-US" sz="1200" dirty="0" err="1">
                          <a:effectLst/>
                        </a:rPr>
                        <a:t>договор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 err="1">
                          <a:effectLst/>
                        </a:rPr>
                        <a:t>Договор</a:t>
                      </a:r>
                      <a:endParaRPr lang="ru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07" marR="49407" marT="39525" marB="39525"/>
                </a:tc>
                <a:extLst>
                  <a:ext uri="{0D108BD9-81ED-4DB2-BD59-A6C34878D82A}">
                    <a16:rowId xmlns:a16="http://schemas.microsoft.com/office/drawing/2014/main" val="3384215135"/>
                  </a:ext>
                </a:extLst>
              </a:tr>
              <a:tr h="6265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A4. Оцифровать и архивировать документы</a:t>
                      </a:r>
                      <a:endParaRPr lang="ru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07" marR="49407" marT="39525" marB="3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 err="1">
                          <a:effectLst/>
                        </a:rPr>
                        <a:t>Основание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работ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по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договору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 err="1">
                          <a:effectLst/>
                        </a:rPr>
                        <a:t>Контент</a:t>
                      </a:r>
                      <a:r>
                        <a:rPr lang="en-US" sz="1200" dirty="0">
                          <a:effectLst/>
                        </a:rPr>
                        <a:t>/</a:t>
                      </a:r>
                      <a:r>
                        <a:rPr lang="en-US" sz="1200" dirty="0" err="1">
                          <a:effectLst/>
                        </a:rPr>
                        <a:t>поиск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endParaRPr lang="ru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07" marR="49407" marT="39525" marB="3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 err="1">
                          <a:effectLst/>
                        </a:rPr>
                        <a:t>Сканы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 err="1">
                          <a:effectLst/>
                        </a:rPr>
                        <a:t>Статусы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этапов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оцифровки</a:t>
                      </a:r>
                      <a:endParaRPr lang="ru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07" marR="49407" marT="39525" marB="39525"/>
                </a:tc>
                <a:extLst>
                  <a:ext uri="{0D108BD9-81ED-4DB2-BD59-A6C34878D82A}">
                    <a16:rowId xmlns:a16="http://schemas.microsoft.com/office/drawing/2014/main" val="276730594"/>
                  </a:ext>
                </a:extLst>
              </a:tr>
              <a:tr h="48435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A5. Обрабатывать запрос к архиву</a:t>
                      </a:r>
                      <a:endParaRPr lang="ru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07" marR="49407" marT="39525" marB="3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 err="1">
                          <a:effectLst/>
                        </a:rPr>
                        <a:t>Документы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 err="1">
                          <a:effectLst/>
                        </a:rPr>
                        <a:t>Запрос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к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архиву</a:t>
                      </a:r>
                      <a:endParaRPr lang="ru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07" marR="49407" marT="39525" marB="3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 err="1">
                          <a:effectLst/>
                        </a:rPr>
                        <a:t>Документы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 err="1">
                          <a:effectLst/>
                        </a:rPr>
                        <a:t>Учет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выдач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endParaRPr lang="ru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07" marR="49407" marT="39525" marB="39525"/>
                </a:tc>
                <a:extLst>
                  <a:ext uri="{0D108BD9-81ED-4DB2-BD59-A6C34878D82A}">
                    <a16:rowId xmlns:a16="http://schemas.microsoft.com/office/drawing/2014/main" val="1908195193"/>
                  </a:ext>
                </a:extLst>
              </a:tr>
              <a:tr h="10399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A6. Контролировать сроки и формировать отчеты</a:t>
                      </a:r>
                      <a:endParaRPr lang="ru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07" marR="49407" marT="39525" marB="3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 err="1">
                          <a:effectLst/>
                        </a:rPr>
                        <a:t>Сроки</a:t>
                      </a:r>
                      <a:r>
                        <a:rPr lang="en-US" sz="1200" dirty="0">
                          <a:effectLst/>
                        </a:rPr>
                        <a:t>/</a:t>
                      </a:r>
                      <a:r>
                        <a:rPr lang="en-US" sz="1200" dirty="0" err="1">
                          <a:effectLst/>
                        </a:rPr>
                        <a:t>права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 err="1">
                          <a:effectLst/>
                        </a:rPr>
                        <a:t>Утвержденные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условия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 err="1">
                          <a:effectLst/>
                        </a:rPr>
                        <a:t>Статусы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этапов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оцифровки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endParaRPr lang="ru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07" marR="49407" marT="39525" marB="3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 err="1">
                          <a:effectLst/>
                        </a:rPr>
                        <a:t>Статусы</a:t>
                      </a:r>
                      <a:r>
                        <a:rPr lang="en-US" sz="1200" dirty="0">
                          <a:effectLst/>
                        </a:rPr>
                        <a:t>/</a:t>
                      </a:r>
                      <a:r>
                        <a:rPr lang="en-US" sz="1200" dirty="0" err="1">
                          <a:effectLst/>
                        </a:rPr>
                        <a:t>уведомлени</a:t>
                      </a:r>
                      <a:r>
                        <a:rPr lang="ru-RU" sz="1200" dirty="0">
                          <a:effectLst/>
                        </a:rPr>
                        <a:t>я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 err="1">
                          <a:effectLst/>
                        </a:rPr>
                        <a:t>Отчеты</a:t>
                      </a:r>
                      <a:r>
                        <a:rPr lang="en-US" sz="1200" dirty="0">
                          <a:effectLst/>
                        </a:rPr>
                        <a:t>/KPI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 err="1">
                          <a:effectLst/>
                        </a:rPr>
                        <a:t>Контент</a:t>
                      </a:r>
                      <a:r>
                        <a:rPr lang="en-US" sz="1200" dirty="0">
                          <a:effectLst/>
                        </a:rPr>
                        <a:t>/</a:t>
                      </a:r>
                      <a:r>
                        <a:rPr lang="en-US" sz="1200" dirty="0" err="1">
                          <a:effectLst/>
                        </a:rPr>
                        <a:t>поис</a:t>
                      </a:r>
                      <a:r>
                        <a:rPr lang="ru-RU" sz="1200" dirty="0">
                          <a:effectLst/>
                        </a:rPr>
                        <a:t>к</a:t>
                      </a:r>
                      <a:endParaRPr lang="ru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07" marR="49407" marT="39525" marB="39525"/>
                </a:tc>
                <a:extLst>
                  <a:ext uri="{0D108BD9-81ED-4DB2-BD59-A6C34878D82A}">
                    <a16:rowId xmlns:a16="http://schemas.microsoft.com/office/drawing/2014/main" val="1975892597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0706AA47-E505-DF9F-5800-5609DA2B4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4850" y="2426389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 err="1">
                <a:latin typeface="Helvetica" pitchFamily="2" charset="0"/>
              </a:rPr>
              <a:t>Контекстная</a:t>
            </a:r>
            <a:r>
              <a:rPr sz="4000" dirty="0">
                <a:latin typeface="Helvetica" pitchFamily="2" charset="0"/>
              </a:rPr>
              <a:t> </a:t>
            </a:r>
            <a:r>
              <a:rPr sz="4000" dirty="0" err="1">
                <a:latin typeface="Helvetica" pitchFamily="2" charset="0"/>
              </a:rPr>
              <a:t>диаграмма</a:t>
            </a:r>
            <a:r>
              <a:rPr sz="4000" dirty="0">
                <a:latin typeface="Helvetica" pitchFamily="2" charset="0"/>
              </a:rPr>
              <a:t> (A-0)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EF7F1A-F2BE-A194-7B34-D4733546D8D4}"/>
              </a:ext>
            </a:extLst>
          </p:cNvPr>
          <p:cNvSpPr txBox="1"/>
          <p:nvPr/>
        </p:nvSpPr>
        <p:spPr>
          <a:xfrm>
            <a:off x="457200" y="1298863"/>
            <a:ext cx="748634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Helvetica" pitchFamily="2" charset="0"/>
              </a:rPr>
              <a:t>Основной процесс: Управлять запросами к архивным документам.</a:t>
            </a:r>
          </a:p>
          <a:p>
            <a:endParaRPr lang="ru-RU" dirty="0">
              <a:latin typeface="Helvetica" pitchFamily="2" charset="0"/>
            </a:endParaRPr>
          </a:p>
          <a:p>
            <a:r>
              <a:rPr lang="ru-RU" dirty="0">
                <a:latin typeface="Helvetica" pitchFamily="2" charset="0"/>
              </a:rPr>
              <a:t>Внешние сущности:</a:t>
            </a:r>
          </a:p>
          <a:p>
            <a:r>
              <a:rPr lang="en-US" dirty="0">
                <a:latin typeface="Helvetica" pitchFamily="2" charset="0"/>
              </a:rPr>
              <a:t>E1 </a:t>
            </a:r>
            <a:r>
              <a:rPr lang="ru-RU" dirty="0">
                <a:latin typeface="Helvetica" pitchFamily="2" charset="0"/>
              </a:rPr>
              <a:t>–</a:t>
            </a:r>
            <a:r>
              <a:rPr lang="en-US" dirty="0">
                <a:latin typeface="Helvetica" pitchFamily="2" charset="0"/>
              </a:rPr>
              <a:t> </a:t>
            </a:r>
            <a:r>
              <a:rPr lang="ru-RU" dirty="0">
                <a:latin typeface="Helvetica" pitchFamily="2" charset="0"/>
              </a:rPr>
              <a:t>Заказчик</a:t>
            </a:r>
          </a:p>
          <a:p>
            <a:r>
              <a:rPr lang="en-US" dirty="0">
                <a:latin typeface="Helvetica" pitchFamily="2" charset="0"/>
              </a:rPr>
              <a:t>E2 </a:t>
            </a:r>
            <a:r>
              <a:rPr lang="ru-RU" dirty="0">
                <a:latin typeface="Helvetica" pitchFamily="2" charset="0"/>
              </a:rPr>
              <a:t>–</a:t>
            </a:r>
            <a:r>
              <a:rPr lang="en-US" dirty="0">
                <a:latin typeface="Helvetica" pitchFamily="2" charset="0"/>
              </a:rPr>
              <a:t> </a:t>
            </a:r>
            <a:r>
              <a:rPr lang="ru-RU" dirty="0">
                <a:latin typeface="Helvetica" pitchFamily="2" charset="0"/>
              </a:rPr>
              <a:t>Диспетчер</a:t>
            </a:r>
          </a:p>
          <a:p>
            <a:r>
              <a:rPr lang="en-US" dirty="0">
                <a:latin typeface="Helvetica" pitchFamily="2" charset="0"/>
              </a:rPr>
              <a:t>E3 </a:t>
            </a:r>
            <a:r>
              <a:rPr lang="ru-RU" dirty="0">
                <a:latin typeface="Helvetica" pitchFamily="2" charset="0"/>
              </a:rPr>
              <a:t>–</a:t>
            </a:r>
            <a:r>
              <a:rPr lang="en-US" dirty="0">
                <a:latin typeface="Helvetica" pitchFamily="2" charset="0"/>
              </a:rPr>
              <a:t> </a:t>
            </a:r>
            <a:r>
              <a:rPr lang="ru-RU" dirty="0">
                <a:latin typeface="Helvetica" pitchFamily="2" charset="0"/>
              </a:rPr>
              <a:t>Генеральный директор</a:t>
            </a:r>
          </a:p>
          <a:p>
            <a:r>
              <a:rPr lang="en-US" dirty="0">
                <a:latin typeface="Helvetica" pitchFamily="2" charset="0"/>
              </a:rPr>
              <a:t>E4</a:t>
            </a:r>
            <a:r>
              <a:rPr lang="ru-RU" dirty="0">
                <a:latin typeface="Helvetica" pitchFamily="2" charset="0"/>
              </a:rPr>
              <a:t> –</a:t>
            </a:r>
            <a:r>
              <a:rPr lang="en-US" dirty="0">
                <a:latin typeface="Helvetica" pitchFamily="2" charset="0"/>
              </a:rPr>
              <a:t> </a:t>
            </a:r>
            <a:r>
              <a:rPr lang="ru-RU">
                <a:latin typeface="Helvetica" pitchFamily="2" charset="0"/>
              </a:rPr>
              <a:t>Бухгалтер</a:t>
            </a:r>
            <a:endParaRPr lang="ru-US" dirty="0">
              <a:latin typeface="Helvetica" pitchFamily="2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E42DD38-314B-9C9B-780A-205FA57A7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7898" y="3330187"/>
            <a:ext cx="5162675" cy="32272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3576846-B9FB-266D-991E-61E51CA2F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39" y="1417639"/>
            <a:ext cx="8244861" cy="50183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Helvetica" pitchFamily="2" charset="0"/>
              </a:rPr>
              <a:t>DFD </a:t>
            </a:r>
            <a:r>
              <a:rPr sz="4000" dirty="0" err="1">
                <a:latin typeface="Helvetica" pitchFamily="2" charset="0"/>
              </a:rPr>
              <a:t>первого</a:t>
            </a:r>
            <a:r>
              <a:rPr sz="4000" dirty="0">
                <a:latin typeface="Helvetica" pitchFamily="2" charset="0"/>
              </a:rPr>
              <a:t> </a:t>
            </a:r>
            <a:r>
              <a:rPr sz="4000" dirty="0" err="1">
                <a:latin typeface="Helvetica" pitchFamily="2" charset="0"/>
              </a:rPr>
              <a:t>уровня</a:t>
            </a:r>
            <a:r>
              <a:rPr sz="4000" dirty="0">
                <a:latin typeface="Helvetica" pitchFamily="2" charset="0"/>
              </a:rPr>
              <a:t> (A0</a:t>
            </a:r>
            <a:r>
              <a:rPr lang="ru-RU" sz="4000" dirty="0">
                <a:latin typeface="Helvetica" pitchFamily="2" charset="0"/>
              </a:rPr>
              <a:t>)</a:t>
            </a:r>
            <a:endParaRPr sz="4000" dirty="0"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Helvetica" pitchFamily="2" charset="0"/>
              </a:rPr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Helvetica" pitchFamily="2" charset="0"/>
              </a:rPr>
              <a:t>Функциональная модель для АИС «Архив Кнопка» успешно спроектирована</a:t>
            </a:r>
            <a:endParaRPr lang="ru-RU" sz="2800" dirty="0">
              <a:latin typeface="Helvetica" pitchFamily="2" charset="0"/>
            </a:endParaRPr>
          </a:p>
          <a:p>
            <a:endParaRPr lang="ru-RU" sz="2800" dirty="0">
              <a:latin typeface="Helvetica" pitchFamily="2" charset="0"/>
            </a:endParaRPr>
          </a:p>
          <a:p>
            <a:r>
              <a:rPr sz="2800" dirty="0" err="1">
                <a:latin typeface="Helvetica" pitchFamily="2" charset="0"/>
              </a:rPr>
              <a:t>Модель</a:t>
            </a:r>
            <a:r>
              <a:rPr sz="2800" dirty="0">
                <a:latin typeface="Helvetica" pitchFamily="2" charset="0"/>
              </a:rPr>
              <a:t> </a:t>
            </a:r>
            <a:r>
              <a:rPr sz="2800" dirty="0" err="1">
                <a:latin typeface="Helvetica" pitchFamily="2" charset="0"/>
              </a:rPr>
              <a:t>описывает</a:t>
            </a:r>
            <a:r>
              <a:rPr sz="2800" dirty="0">
                <a:latin typeface="Helvetica" pitchFamily="2" charset="0"/>
              </a:rPr>
              <a:t> </a:t>
            </a:r>
            <a:r>
              <a:rPr sz="2800" dirty="0" err="1">
                <a:latin typeface="Helvetica" pitchFamily="2" charset="0"/>
              </a:rPr>
              <a:t>путь</a:t>
            </a:r>
            <a:r>
              <a:rPr sz="2800" dirty="0">
                <a:latin typeface="Helvetica" pitchFamily="2" charset="0"/>
              </a:rPr>
              <a:t> </a:t>
            </a:r>
            <a:r>
              <a:rPr sz="2800" dirty="0" err="1">
                <a:latin typeface="Helvetica" pitchFamily="2" charset="0"/>
              </a:rPr>
              <a:t>заявки</a:t>
            </a:r>
            <a:r>
              <a:rPr sz="2800" dirty="0">
                <a:latin typeface="Helvetica" pitchFamily="2" charset="0"/>
              </a:rPr>
              <a:t>: </a:t>
            </a:r>
            <a:r>
              <a:rPr sz="2800" dirty="0" err="1">
                <a:latin typeface="Helvetica" pitchFamily="2" charset="0"/>
              </a:rPr>
              <a:t>регистрация</a:t>
            </a:r>
            <a:r>
              <a:rPr sz="2800" dirty="0">
                <a:latin typeface="Helvetica" pitchFamily="2" charset="0"/>
              </a:rPr>
              <a:t> → </a:t>
            </a:r>
            <a:r>
              <a:rPr sz="2800" dirty="0" err="1">
                <a:latin typeface="Helvetica" pitchFamily="2" charset="0"/>
              </a:rPr>
              <a:t>проверка</a:t>
            </a:r>
            <a:r>
              <a:rPr sz="2800" dirty="0">
                <a:latin typeface="Helvetica" pitchFamily="2" charset="0"/>
              </a:rPr>
              <a:t> → </a:t>
            </a:r>
            <a:r>
              <a:rPr sz="2800" dirty="0" err="1">
                <a:latin typeface="Helvetica" pitchFamily="2" charset="0"/>
              </a:rPr>
              <a:t>оцифровка</a:t>
            </a:r>
            <a:r>
              <a:rPr sz="2800" dirty="0">
                <a:latin typeface="Helvetica" pitchFamily="2" charset="0"/>
              </a:rPr>
              <a:t>/</a:t>
            </a:r>
            <a:r>
              <a:rPr sz="2800" dirty="0" err="1">
                <a:latin typeface="Helvetica" pitchFamily="2" charset="0"/>
              </a:rPr>
              <a:t>маркировка</a:t>
            </a:r>
            <a:r>
              <a:rPr sz="2800" dirty="0">
                <a:latin typeface="Helvetica" pitchFamily="2" charset="0"/>
              </a:rPr>
              <a:t> → </a:t>
            </a:r>
            <a:r>
              <a:rPr sz="2800" dirty="0" err="1">
                <a:latin typeface="Helvetica" pitchFamily="2" charset="0"/>
              </a:rPr>
              <a:t>выдача</a:t>
            </a:r>
            <a:r>
              <a:rPr sz="2800" dirty="0">
                <a:latin typeface="Helvetica" pitchFamily="2" charset="0"/>
              </a:rPr>
              <a:t> → </a:t>
            </a:r>
            <a:r>
              <a:rPr sz="2800" dirty="0" err="1">
                <a:latin typeface="Helvetica" pitchFamily="2" charset="0"/>
              </a:rPr>
              <a:t>возврат</a:t>
            </a:r>
            <a:r>
              <a:rPr sz="2800" dirty="0">
                <a:latin typeface="Helvetica" pitchFamily="2" charset="0"/>
              </a:rPr>
              <a:t>.</a:t>
            </a:r>
          </a:p>
          <a:p>
            <a:r>
              <a:rPr sz="2800" dirty="0" err="1">
                <a:latin typeface="Helvetica" pitchFamily="2" charset="0"/>
              </a:rPr>
              <a:t>Учтены</a:t>
            </a:r>
            <a:r>
              <a:rPr sz="2800" dirty="0">
                <a:latin typeface="Helvetica" pitchFamily="2" charset="0"/>
              </a:rPr>
              <a:t>: </a:t>
            </a:r>
            <a:r>
              <a:rPr sz="2800" dirty="0" err="1">
                <a:latin typeface="Helvetica" pitchFamily="2" charset="0"/>
              </a:rPr>
              <a:t>контроль</a:t>
            </a:r>
            <a:r>
              <a:rPr sz="2800" dirty="0">
                <a:latin typeface="Helvetica" pitchFamily="2" charset="0"/>
              </a:rPr>
              <a:t> </a:t>
            </a:r>
            <a:r>
              <a:rPr sz="2800" dirty="0" err="1">
                <a:latin typeface="Helvetica" pitchFamily="2" charset="0"/>
              </a:rPr>
              <a:t>сроков</a:t>
            </a:r>
            <a:r>
              <a:rPr sz="2800" dirty="0">
                <a:latin typeface="Helvetica" pitchFamily="2" charset="0"/>
              </a:rPr>
              <a:t>/</a:t>
            </a:r>
            <a:r>
              <a:rPr sz="2800" dirty="0" err="1">
                <a:latin typeface="Helvetica" pitchFamily="2" charset="0"/>
              </a:rPr>
              <a:t>статистики</a:t>
            </a:r>
            <a:r>
              <a:rPr sz="2800" dirty="0">
                <a:latin typeface="Helvetica" pitchFamily="2" charset="0"/>
              </a:rPr>
              <a:t>, </a:t>
            </a:r>
            <a:r>
              <a:rPr sz="2800" dirty="0" err="1">
                <a:latin typeface="Helvetica" pitchFamily="2" charset="0"/>
              </a:rPr>
              <a:t>роль</a:t>
            </a:r>
            <a:r>
              <a:rPr sz="2800" dirty="0">
                <a:latin typeface="Helvetica" pitchFamily="2" charset="0"/>
              </a:rPr>
              <a:t> </a:t>
            </a:r>
            <a:r>
              <a:rPr sz="2800" dirty="0" err="1">
                <a:latin typeface="Helvetica" pitchFamily="2" charset="0"/>
              </a:rPr>
              <a:t>администратора</a:t>
            </a:r>
            <a:r>
              <a:rPr sz="2800" dirty="0">
                <a:latin typeface="Helvetica" pitchFamily="2" charset="0"/>
              </a:rPr>
              <a:t> </a:t>
            </a:r>
            <a:r>
              <a:rPr sz="2800" dirty="0" err="1">
                <a:latin typeface="Helvetica" pitchFamily="2" charset="0"/>
              </a:rPr>
              <a:t>и</a:t>
            </a:r>
            <a:r>
              <a:rPr sz="2800" dirty="0">
                <a:latin typeface="Helvetica" pitchFamily="2" charset="0"/>
              </a:rPr>
              <a:t> </a:t>
            </a:r>
            <a:r>
              <a:rPr sz="2800" dirty="0" err="1">
                <a:latin typeface="Helvetica" pitchFamily="2" charset="0"/>
              </a:rPr>
              <a:t>службы</a:t>
            </a:r>
            <a:r>
              <a:rPr sz="2800" dirty="0">
                <a:latin typeface="Helvetica" pitchFamily="2" charset="0"/>
              </a:rPr>
              <a:t> </a:t>
            </a:r>
            <a:r>
              <a:rPr sz="2800" dirty="0" err="1">
                <a:latin typeface="Helvetica" pitchFamily="2" charset="0"/>
              </a:rPr>
              <a:t>архива</a:t>
            </a:r>
            <a:r>
              <a:rPr sz="2800" dirty="0">
                <a:latin typeface="Helvetica" pitchFamily="2" charset="0"/>
              </a:rPr>
              <a:t>.</a:t>
            </a:r>
          </a:p>
          <a:p>
            <a:r>
              <a:rPr sz="2800" dirty="0" err="1">
                <a:latin typeface="Helvetica" pitchFamily="2" charset="0"/>
              </a:rPr>
              <a:t>Модель</a:t>
            </a:r>
            <a:r>
              <a:rPr sz="2800" dirty="0">
                <a:latin typeface="Helvetica" pitchFamily="2" charset="0"/>
              </a:rPr>
              <a:t> </a:t>
            </a:r>
            <a:r>
              <a:rPr sz="2800" dirty="0" err="1">
                <a:latin typeface="Helvetica" pitchFamily="2" charset="0"/>
              </a:rPr>
              <a:t>балансирована</a:t>
            </a:r>
            <a:r>
              <a:rPr sz="2800" dirty="0">
                <a:latin typeface="Helvetica" pitchFamily="2" charset="0"/>
              </a:rPr>
              <a:t> </a:t>
            </a:r>
            <a:r>
              <a:rPr sz="2800" dirty="0" err="1">
                <a:latin typeface="Helvetica" pitchFamily="2" charset="0"/>
              </a:rPr>
              <a:t>и</a:t>
            </a:r>
            <a:r>
              <a:rPr sz="2800" dirty="0">
                <a:latin typeface="Helvetica" pitchFamily="2" charset="0"/>
              </a:rPr>
              <a:t> </a:t>
            </a:r>
            <a:r>
              <a:rPr sz="2800" dirty="0" err="1">
                <a:latin typeface="Helvetica" pitchFamily="2" charset="0"/>
              </a:rPr>
              <a:t>пригодна</a:t>
            </a:r>
            <a:r>
              <a:rPr sz="2800" dirty="0">
                <a:latin typeface="Helvetica" pitchFamily="2" charset="0"/>
              </a:rPr>
              <a:t> </a:t>
            </a:r>
            <a:r>
              <a:rPr sz="2800" dirty="0" err="1">
                <a:latin typeface="Helvetica" pitchFamily="2" charset="0"/>
              </a:rPr>
              <a:t>для</a:t>
            </a:r>
            <a:r>
              <a:rPr sz="2800" dirty="0">
                <a:latin typeface="Helvetica" pitchFamily="2" charset="0"/>
              </a:rPr>
              <a:t> </a:t>
            </a:r>
            <a:r>
              <a:rPr sz="2800" dirty="0" err="1">
                <a:latin typeface="Helvetica" pitchFamily="2" charset="0"/>
              </a:rPr>
              <a:t>дальнейшей</a:t>
            </a:r>
            <a:r>
              <a:rPr sz="2800" dirty="0">
                <a:latin typeface="Helvetica" pitchFamily="2" charset="0"/>
              </a:rPr>
              <a:t> </a:t>
            </a:r>
            <a:r>
              <a:rPr sz="2800" dirty="0" err="1">
                <a:latin typeface="Helvetica" pitchFamily="2" charset="0"/>
              </a:rPr>
              <a:t>автоматизации</a:t>
            </a:r>
            <a:r>
              <a:rPr sz="2800" dirty="0">
                <a:latin typeface="Helvetica" pitchFamily="2" charset="0"/>
              </a:rPr>
              <a:t>.</a:t>
            </a:r>
            <a:endParaRPr lang="ru-RU" sz="2800" dirty="0">
              <a:latin typeface="Helvetica" pitchFamily="2" charset="0"/>
            </a:endParaRPr>
          </a:p>
          <a:p>
            <a:pPr marL="0" indent="0">
              <a:buNone/>
            </a:pPr>
            <a:endParaRPr sz="2800" dirty="0"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/>
          <a:lstStyle/>
          <a:p>
            <a:r>
              <a:rPr dirty="0" err="1">
                <a:latin typeface="Helvetica" pitchFamily="2" charset="0"/>
              </a:rPr>
              <a:t>Спасибо</a:t>
            </a:r>
            <a:r>
              <a:rPr dirty="0">
                <a:latin typeface="Helvetica" pitchFamily="2" charset="0"/>
              </a:rPr>
              <a:t> </a:t>
            </a:r>
            <a:r>
              <a:rPr dirty="0" err="1">
                <a:latin typeface="Helvetica" pitchFamily="2" charset="0"/>
              </a:rPr>
              <a:t>за</a:t>
            </a:r>
            <a:r>
              <a:rPr dirty="0">
                <a:latin typeface="Helvetica" pitchFamily="2" charset="0"/>
              </a:rPr>
              <a:t> </a:t>
            </a:r>
            <a:r>
              <a:rPr dirty="0" err="1">
                <a:latin typeface="Helvetica" pitchFamily="2" charset="0"/>
              </a:rPr>
              <a:t>внимание</a:t>
            </a:r>
            <a:r>
              <a:rPr lang="ru-RU" dirty="0">
                <a:latin typeface="Helvetica" pitchFamily="2" charset="0"/>
              </a:rPr>
              <a:t>!</a:t>
            </a:r>
            <a:endParaRPr dirty="0">
              <a:latin typeface="Helvetica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397</Words>
  <Application>Microsoft Macintosh PowerPoint</Application>
  <PresentationFormat>Экран (4:3)</PresentationFormat>
  <Paragraphs>57</Paragraphs>
  <Slides>9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Helvetica</vt:lpstr>
      <vt:lpstr>Office Theme</vt:lpstr>
      <vt:lpstr>Проект: АИС «Архив Кнопка» – управление заявками  и подготовкой документов</vt:lpstr>
      <vt:lpstr>Предметная область</vt:lpstr>
      <vt:lpstr>Цель и задачи проекта</vt:lpstr>
      <vt:lpstr>Методы и средства</vt:lpstr>
      <vt:lpstr>Анализ процессов и матрица событий</vt:lpstr>
      <vt:lpstr>Контекстная диаграмма (A-0)</vt:lpstr>
      <vt:lpstr>DFD первого уровня (A0)</vt:lpstr>
      <vt:lpstr>Выводы</vt:lpstr>
      <vt:lpstr>Спасибо за внимание!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Проект: АИС «Архив Кнопка» — управление заявками и подготовкой документов</dc:title>
  <dc:subject/>
  <dc:creator/>
  <cp:keywords/>
  <dc:description>generated using python-pptx</dc:description>
  <cp:lastModifiedBy>Вадим Марченко</cp:lastModifiedBy>
  <cp:revision>12</cp:revision>
  <dcterms:created xsi:type="dcterms:W3CDTF">2013-01-27T09:14:16Z</dcterms:created>
  <dcterms:modified xsi:type="dcterms:W3CDTF">2026-02-22T03:41:59Z</dcterms:modified>
  <cp:category/>
</cp:coreProperties>
</file>